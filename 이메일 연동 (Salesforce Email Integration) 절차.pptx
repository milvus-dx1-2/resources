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538" r:id="rId3"/>
    <p:sldId id="543" r:id="rId4"/>
    <p:sldId id="539" r:id="rId5"/>
    <p:sldId id="54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3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42F37-7B2C-46F6-B1B7-A124314C896F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F3EF3-8A3D-4579-A45D-8DF066AD8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822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dirty="0"/>
              <a:t>해당 기능을 안정적으로 사용하려면 도메인 인증을 위한 </a:t>
            </a:r>
            <a:r>
              <a:rPr lang="en-US" altLang="ko-KR" dirty="0"/>
              <a:t>DNS </a:t>
            </a:r>
            <a:r>
              <a:rPr lang="ko-KR" altLang="en-US" dirty="0"/>
              <a:t>설정</a:t>
            </a:r>
            <a:r>
              <a:rPr lang="en-US" altLang="ko-KR" dirty="0"/>
              <a:t>(SPF, DKIM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이 필요할 수 있으며</a:t>
            </a:r>
            <a:r>
              <a:rPr lang="en-US" altLang="ko-KR" dirty="0"/>
              <a:t>, </a:t>
            </a:r>
            <a:r>
              <a:rPr lang="ko-KR" altLang="en-US" dirty="0"/>
              <a:t>이메일 보안 정책에 따라 기능 지원 여부가 달라질 수 있습니다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우선 기능을 시범적으로 </a:t>
            </a:r>
            <a:r>
              <a:rPr lang="ko-KR" altLang="en-US" dirty="0" err="1"/>
              <a:t>사용해보시고</a:t>
            </a:r>
            <a:r>
              <a:rPr lang="en-US" altLang="ko-KR" dirty="0"/>
              <a:t>, </a:t>
            </a:r>
            <a:r>
              <a:rPr lang="ko-KR" altLang="en-US" dirty="0"/>
              <a:t>실제 업무에 필요한지 판단해 주시면</a:t>
            </a:r>
            <a:r>
              <a:rPr lang="en-US" altLang="ko-KR" dirty="0"/>
              <a:t>, </a:t>
            </a:r>
            <a:r>
              <a:rPr lang="ko-KR" altLang="en-US" dirty="0"/>
              <a:t>정식 도입 시 </a:t>
            </a:r>
            <a:r>
              <a:rPr lang="en-US" altLang="ko-KR" dirty="0"/>
              <a:t>DNS </a:t>
            </a:r>
            <a:r>
              <a:rPr lang="ko-KR" altLang="en-US" dirty="0"/>
              <a:t>설정 등 추가 작업 여부를 </a:t>
            </a:r>
            <a:r>
              <a:rPr lang="ko-KR" altLang="en-US" dirty="0" err="1"/>
              <a:t>안내드리겠습니다</a:t>
            </a:r>
            <a:r>
              <a:rPr lang="en-US" altLang="ko-KR" dirty="0"/>
              <a:t>.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ko-KR" altLang="en-US" dirty="0" err="1"/>
              <a:t>업체측에서</a:t>
            </a:r>
            <a:r>
              <a:rPr lang="ko-KR" altLang="en-US" dirty="0"/>
              <a:t> </a:t>
            </a:r>
            <a:r>
              <a:rPr lang="en-US" altLang="ko-KR" dirty="0"/>
              <a:t>DKIM </a:t>
            </a:r>
            <a:r>
              <a:rPr lang="ko-KR" altLang="en-US" dirty="0"/>
              <a:t>설정 시 </a:t>
            </a:r>
            <a:r>
              <a:rPr lang="en-US" altLang="ko-KR" dirty="0"/>
              <a:t>Salesforce</a:t>
            </a:r>
            <a:r>
              <a:rPr lang="ko-KR" altLang="en-US" dirty="0"/>
              <a:t>에서 </a:t>
            </a:r>
            <a:r>
              <a:rPr lang="en-US" altLang="ko-KR" dirty="0"/>
              <a:t>CNAME </a:t>
            </a:r>
            <a:r>
              <a:rPr lang="ko-KR" altLang="en-US" dirty="0"/>
              <a:t>레코드 제공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5FCD-5F6D-465F-8B46-9E7C2AD2D5A7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2456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522BB-47B0-22D1-FE66-FEBAFF33E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8F75A0-A8DD-6103-4BB4-E28F55448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95B1C9-9C64-C6D7-EF26-1D9FA64E2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A7EF1D-D772-36DA-705D-C9F81513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74DAB-32C2-8D18-A5C1-9AB8FFBA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50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B109D-36FE-B519-9EC4-F3F4DE4B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89535D-5CF0-365A-28CA-023E33245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2173C-17E8-5A08-D6DE-094B81CF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CC7489-47E0-75B6-4D11-015EFD97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406B3C-33AA-0F68-DEBB-063B7734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1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151DF-F11B-F09F-2B19-C80A8BF44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C19283-20DF-9AAD-0DBD-756D3752F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D3F6DB-C129-2741-B8A4-7C41F8E1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777860-4DDC-8C10-12D5-51C06893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2B5DC7-39A0-D355-9EE4-E155482A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48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53348-87A5-39BA-7313-CC2234C1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98F894-4A5C-88F9-74C4-A97C4AD11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1B76A9-F885-AE20-B78A-53529F1CA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0D0388-BEC7-058E-DCFD-0F5D8FFA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52F6D2-7698-D811-2284-E4B1C3BA8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C188AD-E2D8-F5ED-1960-D61696830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59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168ADF-CC12-1935-63A0-A2A59F389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C23EB1-1A19-27B3-DAEB-FBF4FFB5A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BAB66F-3F3F-3449-4969-A84B1364F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E5EA7D-36AB-E6F9-9E86-255341206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1941CD-2CF2-814A-A67A-6DF8D2503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41586A-A4ED-2E52-23B1-2822C08C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2AFCB6-E48D-40E3-0664-46967663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B31212-C565-E696-3369-60AD51B9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52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25390-FA28-B2B3-4866-F31F4E9B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6E8ABE-D844-36C1-EBBE-28834F4F8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D1A994-E58E-06C7-CE6A-EF8517D3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363872-8F37-A727-3AF5-4450F46C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02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EDBDC8-BABD-B5DE-098A-1707B33E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3FF2164-A35D-600C-F703-6F608953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DA68A-EA85-BD6F-7E1A-36D84FE5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245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51F7C-061E-32C3-67FC-FCD01EBA9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17BCDB-280B-D407-A4E6-C9540B8E8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9A0E65-E1C8-979A-EAD7-A67117B6D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7C40F2-23BF-F62C-EA2C-6CEC2541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5C113E-4EA3-E6F0-C27F-D0A95A7D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E1F61B-2B4C-8421-CB95-4E0D7168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657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C0C46-D6EB-1E61-FE04-A7E4D457A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AB5A53-1F21-2374-0B0B-6EE16F713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21446C-9957-B9F5-4CAB-ADEB19FB3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7BE34F-76FF-F53B-3B4F-264FCE11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382061-7C90-60F8-99B6-170D7573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C7FEF8-A7FC-B819-9067-6895AD22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619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628F3-264E-5B6B-F184-DBDDBDC85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25F891-EAD9-5765-0EFB-18B899272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619AB5-FB30-90AE-450D-4892E861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E52119-EFDB-4907-42C9-D9BA03E86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1D1D8B-DF2C-FD72-D80C-12CF116E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71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BB1BDB-A887-D9A2-44A7-533A94B7F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9E1AAB-54B5-8FBC-A5FC-591B1E9D8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32F82D-C4F8-4D14-5807-2DF3B8D8C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BEB086-BDAA-D6AA-19A4-FA04D1E1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012271-178A-0C35-EE7A-8BAB1A12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252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8CA002-961D-1565-1BC5-6F1924D8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71D5B7-57F1-BF79-92C3-A88A846A7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1F366-1FBA-6627-6EF1-F5F6857DD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6909D-5C18-4178-89C7-F2A2F2F650A6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DF1BD4-C9E8-1F0C-5CB5-DBB89CD84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9693BC-C434-544F-8A21-0B217CFE4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96E9E-E735-4EEB-AC21-E051621921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996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place.microsoft.com/en-us/product/office/WA104379334?tab=Over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7FBBE9-8B37-7250-F04B-19C71B4E1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이메일 연동 절차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D4DE7C-546E-808C-260A-F202338561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61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3AC35F-A049-6868-0DDB-15128845A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89" y="1674258"/>
            <a:ext cx="6771861" cy="297583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B593B2-DCCD-10CE-DB88-4043362309AA}"/>
              </a:ext>
            </a:extLst>
          </p:cNvPr>
          <p:cNvSpPr txBox="1"/>
          <p:nvPr/>
        </p:nvSpPr>
        <p:spPr>
          <a:xfrm>
            <a:off x="186061" y="58067"/>
            <a:ext cx="796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6. </a:t>
            </a:r>
            <a:r>
              <a:rPr lang="ko-KR" altLang="en-US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아웃룩 연동 </a:t>
            </a:r>
            <a:r>
              <a:rPr lang="en-US" altLang="ko-KR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– </a:t>
            </a:r>
            <a:r>
              <a:rPr lang="ko-KR" altLang="en-US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확장 프로그램 설치</a:t>
            </a:r>
            <a:r>
              <a:rPr lang="en-US" altLang="ko-KR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endParaRPr lang="ko-KR" altLang="en-US" b="1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8C491-F3AC-5629-77A2-23B0CAAC0E48}"/>
              </a:ext>
            </a:extLst>
          </p:cNvPr>
          <p:cNvSpPr txBox="1"/>
          <p:nvPr/>
        </p:nvSpPr>
        <p:spPr>
          <a:xfrm>
            <a:off x="9097119" y="495495"/>
            <a:ext cx="3094881" cy="6363478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아웃룩 연동 방법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회사계정으로 아웃룩 로그인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MS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Marketplace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세일즈포스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확장 프로그램 설치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https://marketplace.microsoft.com/en-us/product/office/WA104379334?tab=Overview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아웃룩의 앱 버튼을 눌러 설치된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Salesforce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클릭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연결하고자 하는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세일즈포스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 계정으로 로그인 시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아웃룩 계정 정보와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일치해야함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),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세일즈포스와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 연동 완료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363900-025C-2944-DD1C-D8DFBE7B3C07}"/>
              </a:ext>
            </a:extLst>
          </p:cNvPr>
          <p:cNvSpPr/>
          <p:nvPr/>
        </p:nvSpPr>
        <p:spPr>
          <a:xfrm>
            <a:off x="3936394" y="1998542"/>
            <a:ext cx="371435" cy="360346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스크린샷, 폰트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6F7AEA-A50C-1619-5558-CCEF33B62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887" y="1225826"/>
            <a:ext cx="1639494" cy="416780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54A41C98-F16C-DE20-5791-93D39F915E90}"/>
              </a:ext>
            </a:extLst>
          </p:cNvPr>
          <p:cNvCxnSpPr>
            <a:cxnSpLocks/>
          </p:cNvCxnSpPr>
          <p:nvPr/>
        </p:nvCxnSpPr>
        <p:spPr>
          <a:xfrm rot="10800000">
            <a:off x="4307838" y="1998548"/>
            <a:ext cx="1205067" cy="101923"/>
          </a:xfrm>
          <a:prstGeom prst="bentConnector3">
            <a:avLst>
              <a:gd name="adj1" fmla="val -1686"/>
            </a:avLst>
          </a:prstGeom>
          <a:ln w="158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더하기 기호 28">
            <a:extLst>
              <a:ext uri="{FF2B5EF4-FFF2-40B4-BE49-F238E27FC236}">
                <a16:creationId xmlns:a16="http://schemas.microsoft.com/office/drawing/2014/main" id="{2D05F25A-F440-3DB6-4FC6-E81FCD909681}"/>
              </a:ext>
            </a:extLst>
          </p:cNvPr>
          <p:cNvSpPr/>
          <p:nvPr/>
        </p:nvSpPr>
        <p:spPr>
          <a:xfrm>
            <a:off x="6867475" y="3044687"/>
            <a:ext cx="530086" cy="530086"/>
          </a:xfrm>
          <a:prstGeom prst="mathPlus">
            <a:avLst>
              <a:gd name="adj1" fmla="val 10876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62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273C-80AA-490C-8DB3-26704D39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78394E-74D9-DA82-783C-DABF4332FB64}"/>
              </a:ext>
            </a:extLst>
          </p:cNvPr>
          <p:cNvSpPr txBox="1"/>
          <p:nvPr/>
        </p:nvSpPr>
        <p:spPr>
          <a:xfrm>
            <a:off x="186061" y="58067"/>
            <a:ext cx="796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6. </a:t>
            </a:r>
            <a:r>
              <a:rPr lang="ko-KR" altLang="en-US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아웃룩 연동 </a:t>
            </a:r>
            <a:r>
              <a:rPr lang="en-US" altLang="ko-KR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– </a:t>
            </a:r>
            <a:r>
              <a:rPr lang="ko-KR" altLang="en-US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사용자 등록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F078A-8370-D707-8EF6-B0865C051495}"/>
              </a:ext>
            </a:extLst>
          </p:cNvPr>
          <p:cNvSpPr txBox="1"/>
          <p:nvPr/>
        </p:nvSpPr>
        <p:spPr>
          <a:xfrm>
            <a:off x="9097119" y="495495"/>
            <a:ext cx="3094881" cy="6363478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 등록 방법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Salesforce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 로그인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Einstein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활동 수집 설정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우측 상단 설정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톱니바퀴 아이콘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) &gt; Einstein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활동 수집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&gt;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설정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&gt;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시작하기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3.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이메일 서비스 선택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Microsoft Office 365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4.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연결 방식 설정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팝업창에서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‘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사용자 수준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Oauth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 2.0’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선택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구성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이름 지정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본인 이름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및 동기화 설정 검토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모두 활성화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6. 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사용자 선택</a:t>
            </a:r>
            <a:endParaRPr lang="en-US" altLang="ko-KR" sz="1200" b="1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7.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권한 승인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/>
              <a:t>Microsoft</a:t>
            </a:r>
            <a:r>
              <a:rPr lang="ko-KR" altLang="en-US" sz="1200" dirty="0"/>
              <a:t>에서 인증이 완료되면</a:t>
            </a:r>
            <a:br>
              <a:rPr lang="ko-KR" altLang="en-US" sz="1200" dirty="0"/>
            </a:br>
            <a:r>
              <a:rPr lang="en-US" altLang="ko-KR" sz="1200" dirty="0"/>
              <a:t>"Salesforce</a:t>
            </a:r>
            <a:r>
              <a:rPr lang="ko-KR" altLang="en-US" sz="1200" dirty="0"/>
              <a:t>가 다음에 접근할 수 있습니다</a:t>
            </a:r>
            <a:r>
              <a:rPr lang="en-US" altLang="ko-KR" sz="1200" dirty="0"/>
              <a:t>..." </a:t>
            </a:r>
            <a:r>
              <a:rPr lang="ko-KR" altLang="en-US" sz="1200" dirty="0"/>
              <a:t>같은 창이 뜸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8.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연동 성공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 descr="텍스트, 스크린샷, 만화 영화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A4CBD0-2355-E43C-FA63-05B5DCA17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27" y="2140336"/>
            <a:ext cx="7565234" cy="307379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그림 9" descr="텍스트, 폰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5B9CC4-E8E8-E710-7FF9-ECD5D45C6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412" y="4419867"/>
            <a:ext cx="3334660" cy="129184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2" name="그림 11" descr="텍스트, 스크린샷, 잭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7B0133-AA5A-76D1-A9C9-C15169BA3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175" y="4192463"/>
            <a:ext cx="1756583" cy="224452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491689-9618-D182-DC2E-64C69B8552BA}"/>
              </a:ext>
            </a:extLst>
          </p:cNvPr>
          <p:cNvSpPr txBox="1"/>
          <p:nvPr/>
        </p:nvSpPr>
        <p:spPr>
          <a:xfrm>
            <a:off x="298673" y="674800"/>
            <a:ext cx="89115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Einstein </a:t>
            </a:r>
            <a:r>
              <a:rPr lang="ko-KR" altLang="en-US" b="1" dirty="0"/>
              <a:t>활동 수집</a:t>
            </a:r>
            <a:r>
              <a:rPr lang="ko-KR" altLang="en-US" dirty="0"/>
              <a:t>은 영업 담당자가 보낸 이메일이나 미팅</a:t>
            </a:r>
            <a:r>
              <a:rPr lang="en-US" altLang="ko-KR" dirty="0"/>
              <a:t>(</a:t>
            </a:r>
            <a:r>
              <a:rPr lang="ko-KR" altLang="en-US" dirty="0"/>
              <a:t>캘린더 일정</a:t>
            </a:r>
            <a:r>
              <a:rPr lang="en-US" altLang="ko-KR" dirty="0"/>
              <a:t>)</a:t>
            </a:r>
            <a:r>
              <a:rPr lang="ko-KR" altLang="en-US" dirty="0"/>
              <a:t>을 자동으로 </a:t>
            </a:r>
            <a:r>
              <a:rPr lang="en-US" altLang="ko-KR" dirty="0"/>
              <a:t>Salesforce</a:t>
            </a:r>
            <a:r>
              <a:rPr lang="ko-KR" altLang="en-US" dirty="0"/>
              <a:t>에 기록해주는 기능입니다</a:t>
            </a:r>
            <a:r>
              <a:rPr lang="en-US" altLang="ko-KR" dirty="0"/>
              <a:t>. </a:t>
            </a:r>
            <a:r>
              <a:rPr lang="ko-KR" altLang="en-US" dirty="0"/>
              <a:t>따로 입력하지 않아도 관련된 계정</a:t>
            </a:r>
            <a:r>
              <a:rPr lang="en-US" altLang="ko-KR" dirty="0"/>
              <a:t>, </a:t>
            </a:r>
            <a:r>
              <a:rPr lang="ko-KR" altLang="en-US" dirty="0"/>
              <a:t>연락처</a:t>
            </a:r>
            <a:r>
              <a:rPr lang="en-US" altLang="ko-KR" dirty="0"/>
              <a:t>, </a:t>
            </a:r>
            <a:r>
              <a:rPr lang="ko-KR" altLang="en-US" dirty="0"/>
              <a:t>기회 등에 이메일과 일정이 자동으로 연동되어 영업 활동 내역을 한눈에 확인할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293775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0391D3-DC4A-58AB-24CE-F9FC39A1C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26" y="1983977"/>
            <a:ext cx="4488820" cy="322215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A2EC3E7-D87D-A416-A754-5E1522E82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862" y="1225724"/>
            <a:ext cx="4211820" cy="26450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86850BA6-6542-0476-EC8A-D6F3BBC16181}"/>
              </a:ext>
            </a:extLst>
          </p:cNvPr>
          <p:cNvGrpSpPr/>
          <p:nvPr/>
        </p:nvGrpSpPr>
        <p:grpSpPr>
          <a:xfrm>
            <a:off x="5488688" y="4152462"/>
            <a:ext cx="2796168" cy="2331741"/>
            <a:chOff x="8108805" y="3080592"/>
            <a:chExt cx="3933069" cy="3279810"/>
          </a:xfrm>
        </p:grpSpPr>
        <p:pic>
          <p:nvPicPr>
            <p:cNvPr id="5" name="그림 4" descr="텍스트, 스크린샷, 소프트웨어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7F30558-A06F-F57C-6E54-3F7D63A9F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8805" y="3080592"/>
              <a:ext cx="3933069" cy="327981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0C9371E-BA2A-B1DB-1184-A2E85247BA76}"/>
                </a:ext>
              </a:extLst>
            </p:cNvPr>
            <p:cNvSpPr/>
            <p:nvPr/>
          </p:nvSpPr>
          <p:spPr>
            <a:xfrm>
              <a:off x="8289255" y="5769844"/>
              <a:ext cx="3364173" cy="54771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863DE0AC-B782-3830-9E0E-29CA025F3077}"/>
              </a:ext>
            </a:extLst>
          </p:cNvPr>
          <p:cNvSpPr/>
          <p:nvPr/>
        </p:nvSpPr>
        <p:spPr>
          <a:xfrm>
            <a:off x="4237263" y="3921626"/>
            <a:ext cx="803366" cy="353943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8D15DB-A778-2C94-B99C-68A724203121}"/>
              </a:ext>
            </a:extLst>
          </p:cNvPr>
          <p:cNvSpPr txBox="1"/>
          <p:nvPr/>
        </p:nvSpPr>
        <p:spPr>
          <a:xfrm>
            <a:off x="9134598" y="494522"/>
            <a:ext cx="3094881" cy="6363478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C6882-730A-D7B4-DF29-B93219000523}"/>
              </a:ext>
            </a:extLst>
          </p:cNvPr>
          <p:cNvSpPr txBox="1"/>
          <p:nvPr/>
        </p:nvSpPr>
        <p:spPr>
          <a:xfrm>
            <a:off x="186061" y="58067"/>
            <a:ext cx="796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6. </a:t>
            </a:r>
            <a:r>
              <a:rPr lang="ko-KR" altLang="en-US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아웃룩 연동 사용 예시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0DE1DF-CAE6-4169-4C14-61B9D6A00A7F}"/>
              </a:ext>
            </a:extLst>
          </p:cNvPr>
          <p:cNvSpPr txBox="1"/>
          <p:nvPr/>
        </p:nvSpPr>
        <p:spPr>
          <a:xfrm>
            <a:off x="298673" y="674800"/>
            <a:ext cx="8911588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이메일과 일정을 </a:t>
            </a:r>
            <a:r>
              <a:rPr lang="en-US" altLang="ko-KR" dirty="0"/>
              <a:t>Salesforce</a:t>
            </a:r>
            <a:r>
              <a:rPr lang="ko-KR" altLang="en-US" dirty="0"/>
              <a:t>에서 바로 확인하고</a:t>
            </a:r>
            <a:r>
              <a:rPr lang="en-US" altLang="ko-KR" dirty="0"/>
              <a:t>, </a:t>
            </a:r>
            <a:r>
              <a:rPr lang="ko-KR" altLang="en-US" dirty="0"/>
              <a:t>리드</a:t>
            </a:r>
            <a:r>
              <a:rPr lang="en-US" altLang="ko-KR" dirty="0"/>
              <a:t>·</a:t>
            </a:r>
            <a:r>
              <a:rPr lang="ko-KR" altLang="en-US" dirty="0"/>
              <a:t>기회 등 주요 레코드를 생성 및 참조가 가능해집니다</a:t>
            </a:r>
            <a:r>
              <a:rPr lang="en-US" altLang="ko-KR" dirty="0"/>
              <a:t>.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79041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946B15-07F8-A2FB-00FB-E64023FF4BDF}"/>
              </a:ext>
            </a:extLst>
          </p:cNvPr>
          <p:cNvSpPr txBox="1"/>
          <p:nvPr/>
        </p:nvSpPr>
        <p:spPr>
          <a:xfrm>
            <a:off x="186061" y="58067"/>
            <a:ext cx="7968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6. </a:t>
            </a:r>
            <a:r>
              <a:rPr lang="ko-KR" altLang="en-US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아웃룩 연동 </a:t>
            </a:r>
            <a:r>
              <a:rPr lang="en-US" altLang="ko-KR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– </a:t>
            </a:r>
            <a:r>
              <a:rPr lang="ko-KR" altLang="en-US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추가 보안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7C4C1-ACD2-FD89-D0CC-0E9CFC7C4C15}"/>
              </a:ext>
            </a:extLst>
          </p:cNvPr>
          <p:cNvSpPr txBox="1"/>
          <p:nvPr/>
        </p:nvSpPr>
        <p:spPr>
          <a:xfrm>
            <a:off x="324679" y="863556"/>
            <a:ext cx="82693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/>
              <a:t>해당</a:t>
            </a:r>
            <a:r>
              <a:rPr lang="en-US" altLang="ko-KR" dirty="0"/>
              <a:t> </a:t>
            </a:r>
            <a:r>
              <a:rPr lang="ko-KR" altLang="en-US" dirty="0"/>
              <a:t>기능을 안정적으로 사용하기 위해 보안 세팅이 추가적으로 필요한 경우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DNS </a:t>
            </a:r>
            <a:r>
              <a:rPr lang="ko-KR" altLang="en-US" dirty="0"/>
              <a:t>인증</a:t>
            </a:r>
            <a:r>
              <a:rPr lang="en-US" altLang="ko-KR" dirty="0"/>
              <a:t> </a:t>
            </a:r>
            <a:r>
              <a:rPr lang="ko-KR" altLang="en-US" dirty="0"/>
              <a:t>작업의 필요 여부를 안내해 드릴 예정입니다</a:t>
            </a:r>
            <a:r>
              <a:rPr lang="en-US" altLang="ko-KR" dirty="0"/>
              <a:t>. DNS</a:t>
            </a:r>
            <a:r>
              <a:rPr lang="ko-KR" altLang="en-US" dirty="0"/>
              <a:t> 인증 작업은 고객사의 도메인 관리 업체에서 설정합니다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만약 아래와 같은 에러 발생시 고려 필요</a:t>
            </a:r>
            <a:r>
              <a:rPr lang="en-US" altLang="ko-KR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ACA4B-28E0-065E-49AB-02E7B020294F}"/>
              </a:ext>
            </a:extLst>
          </p:cNvPr>
          <p:cNvSpPr txBox="1"/>
          <p:nvPr/>
        </p:nvSpPr>
        <p:spPr>
          <a:xfrm>
            <a:off x="9097119" y="495495"/>
            <a:ext cx="3094881" cy="6363478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B72D9E-8321-6930-9D9C-F4DCD6E4790E}"/>
              </a:ext>
            </a:extLst>
          </p:cNvPr>
          <p:cNvSpPr/>
          <p:nvPr/>
        </p:nvSpPr>
        <p:spPr>
          <a:xfrm>
            <a:off x="788504" y="2777041"/>
            <a:ext cx="7366451" cy="242514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이메일이 수신되지 않거나 </a:t>
            </a:r>
            <a:r>
              <a:rPr lang="ko-KR" altLang="en-US" dirty="0" err="1"/>
              <a:t>스팸함으로</a:t>
            </a:r>
            <a:r>
              <a:rPr lang="ko-KR" altLang="en-US" dirty="0"/>
              <a:t> 가는 이슈가 발생할 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Outlook</a:t>
            </a:r>
            <a:r>
              <a:rPr lang="ko-KR" altLang="en-US" dirty="0"/>
              <a:t>에서 보낸 이메일이 </a:t>
            </a:r>
            <a:r>
              <a:rPr lang="en-US" altLang="ko-KR" dirty="0"/>
              <a:t>Salesforce</a:t>
            </a:r>
            <a:r>
              <a:rPr lang="ko-KR" altLang="en-US" dirty="0"/>
              <a:t>에 자동으로 기록되지 않을 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고객사의 이메일 보안 시스템이 타사 플랫폼의 메일 기록을 차단할 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외부 메일 시스템과의 연동</a:t>
            </a:r>
            <a:r>
              <a:rPr lang="en-US" altLang="ko-KR" dirty="0"/>
              <a:t>/</a:t>
            </a:r>
            <a:r>
              <a:rPr lang="ko-KR" altLang="en-US" dirty="0"/>
              <a:t>발송 실패 시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1138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와이드스크린</PresentationFormat>
  <Paragraphs>64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나눔스퀘어</vt:lpstr>
      <vt:lpstr>나눔스퀘어OTF</vt:lpstr>
      <vt:lpstr>맑은 고딕</vt:lpstr>
      <vt:lpstr>Arial</vt:lpstr>
      <vt:lpstr>Office 테마</vt:lpstr>
      <vt:lpstr>이메일 연동 절차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Tableau Team6</dc:creator>
  <cp:lastModifiedBy>Tableau Team6</cp:lastModifiedBy>
  <cp:revision>1</cp:revision>
  <dcterms:created xsi:type="dcterms:W3CDTF">2025-12-10T02:26:09Z</dcterms:created>
  <dcterms:modified xsi:type="dcterms:W3CDTF">2025-12-10T02:26:50Z</dcterms:modified>
</cp:coreProperties>
</file>